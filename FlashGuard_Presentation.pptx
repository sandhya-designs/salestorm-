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lashGuard" id="{DE56D5FC-9F69-F317-1963-4BE34E58D79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06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FlashGuard and the team. Scenario: 10,000 buyers press Buy Now for only 100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part is not serving 10,000 customers; it is deciding correctly which 100 own the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is absorbed in layers. Only Inventory &amp; Reservation may change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guarantee depends on one atomic SQL statement, not on how many requests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short transaction; no external call inside it. Payment gateway is called only after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assume an outcome that has not been observed. Idempotency key prevents duplicate 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Service outage of about 30 seconds is recovered without manual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constraints are the second line of defence behind the atomic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hot inventory row is the real bottleneck; 500k req/s is a target to validate by load test, not a measured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results are to be recorded after each run; correctness is argued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FlashGuard · SALESTORM | SYSCRAFTERS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457200" y="548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SALESTORM · SYSCRAFTERS 2026</a:t>
            </a:r>
            <a:endParaRPr lang="en-US" sz="1200" dirty="0"/>
          </a:p>
        </p:txBody>
      </p:sp>
      <p:sp>
        <p:nvSpPr>
          <p:cNvPr id="3" name="text-2"/>
          <p:cNvSpPr txBox="1"/>
          <p:nvPr/>
        </p:nvSpPr>
        <p:spPr>
          <a:xfrm>
            <a:off x="457200" y="1097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FlashGuard</a:t>
            </a:r>
            <a:endParaRPr lang="en-US" sz="5400" dirty="0"/>
          </a:p>
        </p:txBody>
      </p:sp>
      <p:sp>
        <p:nvSpPr>
          <p:cNvPr id="4" name="text-3"/>
          <p:cNvSpPr txBox="1"/>
          <p:nvPr/>
        </p:nvSpPr>
        <p:spPr>
          <a:xfrm>
            <a:off x="45720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 consistency-first architecture for high-scale, limited-inventory e-commerce</a:t>
            </a:r>
            <a:endParaRPr lang="en-US" sz="1600" dirty="0"/>
          </a:p>
        </p:txBody>
      </p:sp>
      <p:sp>
        <p:nvSpPr>
          <p:cNvPr id="5" name="text-4"/>
          <p:cNvSpPr txBox="1"/>
          <p:nvPr/>
        </p:nvSpPr>
        <p:spPr>
          <a:xfrm>
            <a:off x="45720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System Design Document · Design-First, AI-Assisted Hackathon</a:t>
            </a:r>
            <a:endParaRPr lang="en-US" sz="1200" dirty="0"/>
          </a:p>
        </p:txBody>
      </p:sp>
      <p:sp>
        <p:nvSpPr>
          <p:cNvPr id="6" name="unit-5"/>
          <p:cNvSpPr/>
          <p:nvPr/>
        </p:nvSpPr>
        <p:spPr>
          <a:xfrm>
            <a:off x="5897880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" name="unit-6"/>
          <p:cNvSpPr/>
          <p:nvPr/>
        </p:nvSpPr>
        <p:spPr>
          <a:xfrm>
            <a:off x="6163056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" name="unit-7"/>
          <p:cNvSpPr/>
          <p:nvPr/>
        </p:nvSpPr>
        <p:spPr>
          <a:xfrm>
            <a:off x="6428232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" name="unit-8"/>
          <p:cNvSpPr/>
          <p:nvPr/>
        </p:nvSpPr>
        <p:spPr>
          <a:xfrm>
            <a:off x="6693408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" name="unit-9"/>
          <p:cNvSpPr/>
          <p:nvPr/>
        </p:nvSpPr>
        <p:spPr>
          <a:xfrm>
            <a:off x="6958584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1" name="unit-10"/>
          <p:cNvSpPr/>
          <p:nvPr/>
        </p:nvSpPr>
        <p:spPr>
          <a:xfrm>
            <a:off x="7223760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2" name="unit-11"/>
          <p:cNvSpPr/>
          <p:nvPr/>
        </p:nvSpPr>
        <p:spPr>
          <a:xfrm>
            <a:off x="7488936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3" name="unit-12"/>
          <p:cNvSpPr/>
          <p:nvPr/>
        </p:nvSpPr>
        <p:spPr>
          <a:xfrm>
            <a:off x="7754112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4" name="unit-13"/>
          <p:cNvSpPr/>
          <p:nvPr/>
        </p:nvSpPr>
        <p:spPr>
          <a:xfrm>
            <a:off x="8019288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5" name="unit-14"/>
          <p:cNvSpPr/>
          <p:nvPr/>
        </p:nvSpPr>
        <p:spPr>
          <a:xfrm>
            <a:off x="8284464" y="68580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6" name="unit-15"/>
          <p:cNvSpPr/>
          <p:nvPr/>
        </p:nvSpPr>
        <p:spPr>
          <a:xfrm>
            <a:off x="5897880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7" name="unit-16"/>
          <p:cNvSpPr/>
          <p:nvPr/>
        </p:nvSpPr>
        <p:spPr>
          <a:xfrm>
            <a:off x="6163056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8" name="unit-17"/>
          <p:cNvSpPr/>
          <p:nvPr/>
        </p:nvSpPr>
        <p:spPr>
          <a:xfrm>
            <a:off x="6428232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9" name="unit-18"/>
          <p:cNvSpPr/>
          <p:nvPr/>
        </p:nvSpPr>
        <p:spPr>
          <a:xfrm>
            <a:off x="6693408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unit-19"/>
          <p:cNvSpPr/>
          <p:nvPr/>
        </p:nvSpPr>
        <p:spPr>
          <a:xfrm>
            <a:off x="6958584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1" name="unit-20"/>
          <p:cNvSpPr/>
          <p:nvPr/>
        </p:nvSpPr>
        <p:spPr>
          <a:xfrm>
            <a:off x="7223760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2" name="unit-21"/>
          <p:cNvSpPr/>
          <p:nvPr/>
        </p:nvSpPr>
        <p:spPr>
          <a:xfrm>
            <a:off x="7488936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3" name="unit-22"/>
          <p:cNvSpPr/>
          <p:nvPr/>
        </p:nvSpPr>
        <p:spPr>
          <a:xfrm>
            <a:off x="7754112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4" name="unit-23"/>
          <p:cNvSpPr/>
          <p:nvPr/>
        </p:nvSpPr>
        <p:spPr>
          <a:xfrm>
            <a:off x="8019288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5" name="unit-24"/>
          <p:cNvSpPr/>
          <p:nvPr/>
        </p:nvSpPr>
        <p:spPr>
          <a:xfrm>
            <a:off x="8284464" y="95097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6" name="unit-25"/>
          <p:cNvSpPr/>
          <p:nvPr/>
        </p:nvSpPr>
        <p:spPr>
          <a:xfrm>
            <a:off x="5897880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7" name="unit-26"/>
          <p:cNvSpPr/>
          <p:nvPr/>
        </p:nvSpPr>
        <p:spPr>
          <a:xfrm>
            <a:off x="6163056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8" name="unit-27"/>
          <p:cNvSpPr/>
          <p:nvPr/>
        </p:nvSpPr>
        <p:spPr>
          <a:xfrm>
            <a:off x="6428232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9" name="unit-28"/>
          <p:cNvSpPr/>
          <p:nvPr/>
        </p:nvSpPr>
        <p:spPr>
          <a:xfrm>
            <a:off x="6693408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0" name="unit-29"/>
          <p:cNvSpPr/>
          <p:nvPr/>
        </p:nvSpPr>
        <p:spPr>
          <a:xfrm>
            <a:off x="6958584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1" name="unit-30"/>
          <p:cNvSpPr/>
          <p:nvPr/>
        </p:nvSpPr>
        <p:spPr>
          <a:xfrm>
            <a:off x="7223760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2" name="unit-31"/>
          <p:cNvSpPr/>
          <p:nvPr/>
        </p:nvSpPr>
        <p:spPr>
          <a:xfrm>
            <a:off x="7488936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3" name="unit-32"/>
          <p:cNvSpPr/>
          <p:nvPr/>
        </p:nvSpPr>
        <p:spPr>
          <a:xfrm>
            <a:off x="7754112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4" name="unit-33"/>
          <p:cNvSpPr/>
          <p:nvPr/>
        </p:nvSpPr>
        <p:spPr>
          <a:xfrm>
            <a:off x="8019288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5" name="unit-34"/>
          <p:cNvSpPr/>
          <p:nvPr/>
        </p:nvSpPr>
        <p:spPr>
          <a:xfrm>
            <a:off x="8284464" y="121615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6" name="unit-35"/>
          <p:cNvSpPr/>
          <p:nvPr/>
        </p:nvSpPr>
        <p:spPr>
          <a:xfrm>
            <a:off x="5897880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7" name="unit-36"/>
          <p:cNvSpPr/>
          <p:nvPr/>
        </p:nvSpPr>
        <p:spPr>
          <a:xfrm>
            <a:off x="6163056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8" name="unit-37"/>
          <p:cNvSpPr/>
          <p:nvPr/>
        </p:nvSpPr>
        <p:spPr>
          <a:xfrm>
            <a:off x="6428232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9" name="unit-38"/>
          <p:cNvSpPr/>
          <p:nvPr/>
        </p:nvSpPr>
        <p:spPr>
          <a:xfrm>
            <a:off x="6693408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0" name="unit-39"/>
          <p:cNvSpPr/>
          <p:nvPr/>
        </p:nvSpPr>
        <p:spPr>
          <a:xfrm>
            <a:off x="6958584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1" name="unit-40"/>
          <p:cNvSpPr/>
          <p:nvPr/>
        </p:nvSpPr>
        <p:spPr>
          <a:xfrm>
            <a:off x="7223760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2" name="unit-41"/>
          <p:cNvSpPr/>
          <p:nvPr/>
        </p:nvSpPr>
        <p:spPr>
          <a:xfrm>
            <a:off x="7488936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3" name="unit-42"/>
          <p:cNvSpPr/>
          <p:nvPr/>
        </p:nvSpPr>
        <p:spPr>
          <a:xfrm>
            <a:off x="7754112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4" name="unit-43"/>
          <p:cNvSpPr/>
          <p:nvPr/>
        </p:nvSpPr>
        <p:spPr>
          <a:xfrm>
            <a:off x="8019288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5" name="unit-44"/>
          <p:cNvSpPr/>
          <p:nvPr/>
        </p:nvSpPr>
        <p:spPr>
          <a:xfrm>
            <a:off x="8284464" y="148132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6" name="unit-45"/>
          <p:cNvSpPr/>
          <p:nvPr/>
        </p:nvSpPr>
        <p:spPr>
          <a:xfrm>
            <a:off x="5897880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7" name="unit-46"/>
          <p:cNvSpPr/>
          <p:nvPr/>
        </p:nvSpPr>
        <p:spPr>
          <a:xfrm>
            <a:off x="6163056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8" name="unit-47"/>
          <p:cNvSpPr/>
          <p:nvPr/>
        </p:nvSpPr>
        <p:spPr>
          <a:xfrm>
            <a:off x="6428232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9" name="unit-48"/>
          <p:cNvSpPr/>
          <p:nvPr/>
        </p:nvSpPr>
        <p:spPr>
          <a:xfrm>
            <a:off x="6693408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0" name="unit-49"/>
          <p:cNvSpPr/>
          <p:nvPr/>
        </p:nvSpPr>
        <p:spPr>
          <a:xfrm>
            <a:off x="6958584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1" name="unit-50"/>
          <p:cNvSpPr/>
          <p:nvPr/>
        </p:nvSpPr>
        <p:spPr>
          <a:xfrm>
            <a:off x="7223760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2" name="unit-51"/>
          <p:cNvSpPr/>
          <p:nvPr/>
        </p:nvSpPr>
        <p:spPr>
          <a:xfrm>
            <a:off x="7488936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3" name="unit-52"/>
          <p:cNvSpPr/>
          <p:nvPr/>
        </p:nvSpPr>
        <p:spPr>
          <a:xfrm>
            <a:off x="7754112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4" name="unit-53"/>
          <p:cNvSpPr/>
          <p:nvPr/>
        </p:nvSpPr>
        <p:spPr>
          <a:xfrm>
            <a:off x="8019288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5" name="unit-54"/>
          <p:cNvSpPr/>
          <p:nvPr/>
        </p:nvSpPr>
        <p:spPr>
          <a:xfrm>
            <a:off x="8284464" y="174650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6" name="unit-55"/>
          <p:cNvSpPr/>
          <p:nvPr/>
        </p:nvSpPr>
        <p:spPr>
          <a:xfrm>
            <a:off x="5897880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7" name="unit-56"/>
          <p:cNvSpPr/>
          <p:nvPr/>
        </p:nvSpPr>
        <p:spPr>
          <a:xfrm>
            <a:off x="6163056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8" name="unit-57"/>
          <p:cNvSpPr/>
          <p:nvPr/>
        </p:nvSpPr>
        <p:spPr>
          <a:xfrm>
            <a:off x="6428232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59" name="unit-58"/>
          <p:cNvSpPr/>
          <p:nvPr/>
        </p:nvSpPr>
        <p:spPr>
          <a:xfrm>
            <a:off x="6693408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0" name="unit-59"/>
          <p:cNvSpPr/>
          <p:nvPr/>
        </p:nvSpPr>
        <p:spPr>
          <a:xfrm>
            <a:off x="6958584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1" name="unit-60"/>
          <p:cNvSpPr/>
          <p:nvPr/>
        </p:nvSpPr>
        <p:spPr>
          <a:xfrm>
            <a:off x="7223760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2" name="unit-61"/>
          <p:cNvSpPr/>
          <p:nvPr/>
        </p:nvSpPr>
        <p:spPr>
          <a:xfrm>
            <a:off x="7488936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3" name="unit-62"/>
          <p:cNvSpPr/>
          <p:nvPr/>
        </p:nvSpPr>
        <p:spPr>
          <a:xfrm>
            <a:off x="7754112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4" name="unit-63"/>
          <p:cNvSpPr/>
          <p:nvPr/>
        </p:nvSpPr>
        <p:spPr>
          <a:xfrm>
            <a:off x="8019288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5" name="unit-64"/>
          <p:cNvSpPr/>
          <p:nvPr/>
        </p:nvSpPr>
        <p:spPr>
          <a:xfrm>
            <a:off x="8284464" y="201168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6" name="unit-65"/>
          <p:cNvSpPr/>
          <p:nvPr/>
        </p:nvSpPr>
        <p:spPr>
          <a:xfrm>
            <a:off x="5897880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7" name="unit-66"/>
          <p:cNvSpPr/>
          <p:nvPr/>
        </p:nvSpPr>
        <p:spPr>
          <a:xfrm>
            <a:off x="6163056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8" name="unit-67"/>
          <p:cNvSpPr/>
          <p:nvPr/>
        </p:nvSpPr>
        <p:spPr>
          <a:xfrm>
            <a:off x="6428232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69" name="unit-68"/>
          <p:cNvSpPr/>
          <p:nvPr/>
        </p:nvSpPr>
        <p:spPr>
          <a:xfrm>
            <a:off x="6693408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0" name="unit-69"/>
          <p:cNvSpPr/>
          <p:nvPr/>
        </p:nvSpPr>
        <p:spPr>
          <a:xfrm>
            <a:off x="6958584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1" name="unit-70"/>
          <p:cNvSpPr/>
          <p:nvPr/>
        </p:nvSpPr>
        <p:spPr>
          <a:xfrm>
            <a:off x="7223760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2" name="unit-71"/>
          <p:cNvSpPr/>
          <p:nvPr/>
        </p:nvSpPr>
        <p:spPr>
          <a:xfrm>
            <a:off x="7488936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3" name="unit-72"/>
          <p:cNvSpPr/>
          <p:nvPr/>
        </p:nvSpPr>
        <p:spPr>
          <a:xfrm>
            <a:off x="7754112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4" name="unit-73"/>
          <p:cNvSpPr/>
          <p:nvPr/>
        </p:nvSpPr>
        <p:spPr>
          <a:xfrm>
            <a:off x="8019288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5" name="unit-74"/>
          <p:cNvSpPr/>
          <p:nvPr/>
        </p:nvSpPr>
        <p:spPr>
          <a:xfrm>
            <a:off x="8284464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6" name="unit-75"/>
          <p:cNvSpPr/>
          <p:nvPr/>
        </p:nvSpPr>
        <p:spPr>
          <a:xfrm>
            <a:off x="5897880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7" name="unit-76"/>
          <p:cNvSpPr/>
          <p:nvPr/>
        </p:nvSpPr>
        <p:spPr>
          <a:xfrm>
            <a:off x="6163056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8" name="unit-77"/>
          <p:cNvSpPr/>
          <p:nvPr/>
        </p:nvSpPr>
        <p:spPr>
          <a:xfrm>
            <a:off x="6428232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9" name="unit-78"/>
          <p:cNvSpPr/>
          <p:nvPr/>
        </p:nvSpPr>
        <p:spPr>
          <a:xfrm>
            <a:off x="6693408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0" name="unit-79"/>
          <p:cNvSpPr/>
          <p:nvPr/>
        </p:nvSpPr>
        <p:spPr>
          <a:xfrm>
            <a:off x="6958584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1" name="unit-80"/>
          <p:cNvSpPr/>
          <p:nvPr/>
        </p:nvSpPr>
        <p:spPr>
          <a:xfrm>
            <a:off x="7223760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2" name="unit-81"/>
          <p:cNvSpPr/>
          <p:nvPr/>
        </p:nvSpPr>
        <p:spPr>
          <a:xfrm>
            <a:off x="7488936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3" name="unit-82"/>
          <p:cNvSpPr/>
          <p:nvPr/>
        </p:nvSpPr>
        <p:spPr>
          <a:xfrm>
            <a:off x="7754112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4" name="unit-83"/>
          <p:cNvSpPr/>
          <p:nvPr/>
        </p:nvSpPr>
        <p:spPr>
          <a:xfrm>
            <a:off x="8019288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5" name="unit-84"/>
          <p:cNvSpPr/>
          <p:nvPr/>
        </p:nvSpPr>
        <p:spPr>
          <a:xfrm>
            <a:off x="8284464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6" name="unit-85"/>
          <p:cNvSpPr/>
          <p:nvPr/>
        </p:nvSpPr>
        <p:spPr>
          <a:xfrm>
            <a:off x="5897880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7" name="unit-86"/>
          <p:cNvSpPr/>
          <p:nvPr/>
        </p:nvSpPr>
        <p:spPr>
          <a:xfrm>
            <a:off x="6163056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8" name="unit-87"/>
          <p:cNvSpPr/>
          <p:nvPr/>
        </p:nvSpPr>
        <p:spPr>
          <a:xfrm>
            <a:off x="6428232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9" name="unit-88"/>
          <p:cNvSpPr/>
          <p:nvPr/>
        </p:nvSpPr>
        <p:spPr>
          <a:xfrm>
            <a:off x="6693408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0" name="unit-89"/>
          <p:cNvSpPr/>
          <p:nvPr/>
        </p:nvSpPr>
        <p:spPr>
          <a:xfrm>
            <a:off x="6958584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1" name="unit-90"/>
          <p:cNvSpPr/>
          <p:nvPr/>
        </p:nvSpPr>
        <p:spPr>
          <a:xfrm>
            <a:off x="7223760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2" name="unit-91"/>
          <p:cNvSpPr/>
          <p:nvPr/>
        </p:nvSpPr>
        <p:spPr>
          <a:xfrm>
            <a:off x="7488936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3" name="unit-92"/>
          <p:cNvSpPr/>
          <p:nvPr/>
        </p:nvSpPr>
        <p:spPr>
          <a:xfrm>
            <a:off x="7754112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4" name="unit-93"/>
          <p:cNvSpPr/>
          <p:nvPr/>
        </p:nvSpPr>
        <p:spPr>
          <a:xfrm>
            <a:off x="8019288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5" name="unit-94"/>
          <p:cNvSpPr/>
          <p:nvPr/>
        </p:nvSpPr>
        <p:spPr>
          <a:xfrm>
            <a:off x="8284464" y="2807208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6" name="unit-95"/>
          <p:cNvSpPr/>
          <p:nvPr/>
        </p:nvSpPr>
        <p:spPr>
          <a:xfrm>
            <a:off x="5897880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7" name="unit-96"/>
          <p:cNvSpPr/>
          <p:nvPr/>
        </p:nvSpPr>
        <p:spPr>
          <a:xfrm>
            <a:off x="6163056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8" name="unit-97"/>
          <p:cNvSpPr/>
          <p:nvPr/>
        </p:nvSpPr>
        <p:spPr>
          <a:xfrm>
            <a:off x="6428232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9" name="unit-98"/>
          <p:cNvSpPr/>
          <p:nvPr/>
        </p:nvSpPr>
        <p:spPr>
          <a:xfrm>
            <a:off x="6693408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0" name="unit-99"/>
          <p:cNvSpPr/>
          <p:nvPr/>
        </p:nvSpPr>
        <p:spPr>
          <a:xfrm>
            <a:off x="6958584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1" name="unit-100"/>
          <p:cNvSpPr/>
          <p:nvPr/>
        </p:nvSpPr>
        <p:spPr>
          <a:xfrm>
            <a:off x="7223760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2" name="unit-101"/>
          <p:cNvSpPr/>
          <p:nvPr/>
        </p:nvSpPr>
        <p:spPr>
          <a:xfrm>
            <a:off x="7488936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3" name="unit-102"/>
          <p:cNvSpPr/>
          <p:nvPr/>
        </p:nvSpPr>
        <p:spPr>
          <a:xfrm>
            <a:off x="7754112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4" name="unit-103"/>
          <p:cNvSpPr/>
          <p:nvPr/>
        </p:nvSpPr>
        <p:spPr>
          <a:xfrm>
            <a:off x="8019288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5" name="unit-104"/>
          <p:cNvSpPr/>
          <p:nvPr/>
        </p:nvSpPr>
        <p:spPr>
          <a:xfrm>
            <a:off x="8284464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6" name="text-105"/>
          <p:cNvSpPr txBox="1"/>
          <p:nvPr/>
        </p:nvSpPr>
        <p:spPr>
          <a:xfrm>
            <a:off x="5897880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100 units  ·  10,000 buyers</a:t>
            </a:r>
            <a:endParaRPr lang="en-US" sz="1400" dirty="0"/>
          </a:p>
        </p:txBody>
      </p:sp>
      <p:sp>
        <p:nvSpPr>
          <p:cNvPr id="107" name="text-106"/>
          <p:cNvSpPr txBox="1"/>
          <p:nvPr/>
        </p:nvSpPr>
        <p:spPr>
          <a:xfrm>
            <a:off x="45720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TEAM</a:t>
            </a:r>
            <a:endParaRPr lang="en-US" sz="1100" dirty="0"/>
          </a:p>
        </p:txBody>
      </p:sp>
      <p:sp>
        <p:nvSpPr>
          <p:cNvPr id="108" name="text-107"/>
          <p:cNvSpPr txBox="1"/>
          <p:nvPr/>
        </p:nvSpPr>
        <p:spPr>
          <a:xfrm>
            <a:off x="45720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Nithish A T</a:t>
            </a:r>
            <a:endParaRPr lang="en-US" sz="1800" dirty="0"/>
          </a:p>
        </p:txBody>
      </p:sp>
      <p:sp>
        <p:nvSpPr>
          <p:cNvPr id="109" name="text-108"/>
          <p:cNvSpPr txBox="1"/>
          <p:nvPr/>
        </p:nvSpPr>
        <p:spPr>
          <a:xfrm>
            <a:off x="457200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24AD145</a:t>
            </a:r>
            <a:endParaRPr lang="en-US" sz="1200" dirty="0"/>
          </a:p>
        </p:txBody>
      </p:sp>
      <p:sp>
        <p:nvSpPr>
          <p:cNvPr id="110" name="text-109"/>
          <p:cNvSpPr txBox="1"/>
          <p:nvPr/>
        </p:nvSpPr>
        <p:spPr>
          <a:xfrm>
            <a:off x="32918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Sandhya M</a:t>
            </a:r>
            <a:endParaRPr lang="en-US" sz="1800" dirty="0"/>
          </a:p>
        </p:txBody>
      </p:sp>
      <p:sp>
        <p:nvSpPr>
          <p:cNvPr id="111" name="text-110"/>
          <p:cNvSpPr txBox="1"/>
          <p:nvPr/>
        </p:nvSpPr>
        <p:spPr>
          <a:xfrm>
            <a:off x="3291840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24AD185</a:t>
            </a:r>
            <a:endParaRPr lang="en-US" sz="1200" dirty="0"/>
          </a:p>
        </p:txBody>
      </p:sp>
      <p:sp>
        <p:nvSpPr>
          <p:cNvPr id="112" name="text-111"/>
          <p:cNvSpPr txBox="1"/>
          <p:nvPr/>
        </p:nvSpPr>
        <p:spPr>
          <a:xfrm>
            <a:off x="612648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Santosh J</a:t>
            </a:r>
            <a:endParaRPr lang="en-US" sz="1800" dirty="0"/>
          </a:p>
        </p:txBody>
      </p:sp>
      <p:sp>
        <p:nvSpPr>
          <p:cNvPr id="113" name="text-112"/>
          <p:cNvSpPr txBox="1"/>
          <p:nvPr/>
        </p:nvSpPr>
        <p:spPr>
          <a:xfrm>
            <a:off x="6126480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24AD190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principle, three guarantees</a:t>
            </a:r>
            <a:endParaRPr lang="en-US" sz="3000" dirty="0"/>
          </a:p>
        </p:txBody>
      </p:sp>
      <p:sp>
        <p:nvSpPr>
          <p:cNvPr id="4" name="text-113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Absorb traffic at the edge · control contention at inventory · make every critical transaction idempotent</a:t>
            </a:r>
            <a:endParaRPr lang="en-US" sz="1600" dirty="0"/>
          </a:p>
        </p:txBody>
      </p:sp>
      <p:sp>
        <p:nvSpPr>
          <p:cNvPr id="5" name="card-114"/>
          <p:cNvSpPr/>
          <p:nvPr/>
        </p:nvSpPr>
        <p:spPr>
          <a:xfrm>
            <a:off x="457200" y="192024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6" name="icon-115"/>
          <p:cNvSpPr txBox="1"/>
          <p:nvPr/>
        </p:nvSpPr>
        <p:spPr>
          <a:xfrm>
            <a:off x="68580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≤</a:t>
            </a:r>
            <a:endParaRPr lang="en-US" sz="2200" dirty="0"/>
          </a:p>
        </p:txBody>
      </p:sp>
      <p:sp>
        <p:nvSpPr>
          <p:cNvPr id="7" name="text-116"/>
          <p:cNvSpPr txBox="1"/>
          <p:nvPr/>
        </p:nvSpPr>
        <p:spPr>
          <a:xfrm>
            <a:off x="6858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Sales ≤ Stock</a:t>
            </a:r>
            <a:endParaRPr lang="en-US" sz="2000" dirty="0"/>
          </a:p>
        </p:txBody>
      </p:sp>
      <p:sp>
        <p:nvSpPr>
          <p:cNvPr id="8" name="text-117"/>
          <p:cNvSpPr txBox="1"/>
          <p:nvPr/>
        </p:nvSpPr>
        <p:spPr>
          <a:xfrm>
            <a:off x="68580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oversell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10,000 requests, 100 units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most 100 reservations</a:t>
            </a:r>
            <a:endParaRPr lang="en-US" sz="1400" dirty="0"/>
          </a:p>
        </p:txBody>
      </p:sp>
      <p:sp>
        <p:nvSpPr>
          <p:cNvPr id="9" name="card-118"/>
          <p:cNvSpPr/>
          <p:nvPr/>
        </p:nvSpPr>
        <p:spPr>
          <a:xfrm>
            <a:off x="3291840" y="192024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icon-119"/>
          <p:cNvSpPr txBox="1"/>
          <p:nvPr/>
        </p:nvSpPr>
        <p:spPr>
          <a:xfrm>
            <a:off x="3520440" y="2103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=</a:t>
            </a:r>
            <a:endParaRPr lang="en-US" sz="2200" dirty="0"/>
          </a:p>
        </p:txBody>
      </p:sp>
      <p:sp>
        <p:nvSpPr>
          <p:cNvPr id="11" name="text-120"/>
          <p:cNvSpPr txBox="1"/>
          <p:nvPr/>
        </p:nvSpPr>
        <p:spPr>
          <a:xfrm>
            <a:off x="35204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Retry ≠ Repeat</a:t>
            </a:r>
            <a:endParaRPr lang="en-US" sz="2000" dirty="0"/>
          </a:p>
        </p:txBody>
      </p:sp>
      <p:sp>
        <p:nvSpPr>
          <p:cNvPr id="12" name="text-121"/>
          <p:cNvSpPr txBox="1"/>
          <p:nvPr/>
        </p:nvSpPr>
        <p:spPr>
          <a:xfrm>
            <a:off x="352044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key, same result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reservation, payment and order per key</a:t>
            </a:r>
            <a:endParaRPr lang="en-US" sz="1400" dirty="0"/>
          </a:p>
        </p:txBody>
      </p:sp>
      <p:sp>
        <p:nvSpPr>
          <p:cNvPr id="13" name="card-122"/>
          <p:cNvSpPr/>
          <p:nvPr/>
        </p:nvSpPr>
        <p:spPr>
          <a:xfrm>
            <a:off x="6126480" y="192024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4" name="icon-123"/>
          <p:cNvSpPr txBox="1"/>
          <p:nvPr/>
        </p:nvSpPr>
        <p:spPr>
          <a:xfrm>
            <a:off x="6355080" y="2103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✓</a:t>
            </a:r>
            <a:endParaRPr lang="en-US" sz="2200" dirty="0"/>
          </a:p>
        </p:txBody>
      </p:sp>
      <p:sp>
        <p:nvSpPr>
          <p:cNvPr id="15" name="text-124"/>
          <p:cNvSpPr txBox="1"/>
          <p:nvPr/>
        </p:nvSpPr>
        <p:spPr>
          <a:xfrm>
            <a:off x="63550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Failure ≠ Loss</a:t>
            </a:r>
            <a:endParaRPr lang="en-US" sz="2000" dirty="0"/>
          </a:p>
        </p:txBody>
      </p:sp>
      <p:sp>
        <p:nvSpPr>
          <p:cNvPr id="16" name="text-125"/>
          <p:cNvSpPr txBox="1"/>
          <p:nvPr/>
        </p:nvSpPr>
        <p:spPr>
          <a:xfrm>
            <a:off x="635508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successful payment always ends in one order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30 s outage heals itself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High-level architecture</a:t>
            </a:r>
            <a:endParaRPr lang="en-US" sz="3000" dirty="0"/>
          </a:p>
        </p:txBody>
      </p:sp>
      <p:sp>
        <p:nvSpPr>
          <p:cNvPr id="4" name="band-126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text-127"/>
          <p:cNvSpPr txBox="1"/>
          <p:nvPr/>
        </p:nvSpPr>
        <p:spPr>
          <a:xfrm>
            <a:off x="64008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EDGE</a:t>
            </a:r>
            <a:endParaRPr lang="en-US" sz="1200" dirty="0"/>
          </a:p>
        </p:txBody>
      </p:sp>
      <p:sp>
        <p:nvSpPr>
          <p:cNvPr id="6" name="band-128"/>
          <p:cNvSpPr/>
          <p:nvPr/>
        </p:nvSpPr>
        <p:spPr>
          <a:xfrm>
            <a:off x="457200" y="201168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7" name="text-129"/>
          <p:cNvSpPr txBox="1"/>
          <p:nvPr/>
        </p:nvSpPr>
        <p:spPr>
          <a:xfrm>
            <a:off x="640080" y="201168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SERVICES</a:t>
            </a:r>
            <a:endParaRPr lang="en-US" sz="1200" dirty="0"/>
          </a:p>
        </p:txBody>
      </p:sp>
      <p:sp>
        <p:nvSpPr>
          <p:cNvPr id="8" name="band-130"/>
          <p:cNvSpPr/>
          <p:nvPr/>
        </p:nvSpPr>
        <p:spPr>
          <a:xfrm>
            <a:off x="457200" y="33832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text-131"/>
          <p:cNvSpPr txBox="1"/>
          <p:nvPr/>
        </p:nvSpPr>
        <p:spPr>
          <a:xfrm>
            <a:off x="640080" y="3383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DATA</a:t>
            </a:r>
            <a:endParaRPr lang="en-US" sz="1200" dirty="0"/>
          </a:p>
        </p:txBody>
      </p:sp>
      <p:sp>
        <p:nvSpPr>
          <p:cNvPr id="10" name="chip-132"/>
          <p:cNvSpPr txBox="1"/>
          <p:nvPr/>
        </p:nvSpPr>
        <p:spPr>
          <a:xfrm>
            <a:off x="1920240" y="13258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CDN</a:t>
            </a:r>
            <a:endParaRPr lang="en-US" sz="1200" dirty="0"/>
          </a:p>
        </p:txBody>
      </p:sp>
      <p:sp>
        <p:nvSpPr>
          <p:cNvPr id="11" name="arrow-133"/>
          <p:cNvSpPr/>
          <p:nvPr/>
        </p:nvSpPr>
        <p:spPr>
          <a:xfrm>
            <a:off x="3291840" y="150876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chip-134"/>
          <p:cNvSpPr txBox="1"/>
          <p:nvPr/>
        </p:nvSpPr>
        <p:spPr>
          <a:xfrm>
            <a:off x="3611880" y="13258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WAF</a:t>
            </a:r>
            <a:endParaRPr lang="en-US" sz="1200" dirty="0"/>
          </a:p>
        </p:txBody>
      </p:sp>
      <p:sp>
        <p:nvSpPr>
          <p:cNvPr id="13" name="arrow-135"/>
          <p:cNvSpPr/>
          <p:nvPr/>
        </p:nvSpPr>
        <p:spPr>
          <a:xfrm>
            <a:off x="4983480" y="150876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chip-136"/>
          <p:cNvSpPr txBox="1"/>
          <p:nvPr/>
        </p:nvSpPr>
        <p:spPr>
          <a:xfrm>
            <a:off x="5303520" y="13258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Load balancer</a:t>
            </a:r>
            <a:endParaRPr lang="en-US" sz="1200" dirty="0"/>
          </a:p>
        </p:txBody>
      </p:sp>
      <p:sp>
        <p:nvSpPr>
          <p:cNvPr id="15" name="arrow-137"/>
          <p:cNvSpPr/>
          <p:nvPr/>
        </p:nvSpPr>
        <p:spPr>
          <a:xfrm>
            <a:off x="6675120" y="150876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chip-138"/>
          <p:cNvSpPr txBox="1"/>
          <p:nvPr/>
        </p:nvSpPr>
        <p:spPr>
          <a:xfrm>
            <a:off x="6995160" y="13258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API gateway</a:t>
            </a:r>
            <a:endParaRPr lang="en-US" sz="1200" dirty="0"/>
          </a:p>
        </p:txBody>
      </p:sp>
      <p:sp>
        <p:nvSpPr>
          <p:cNvPr id="17" name="chip-139"/>
          <p:cNvSpPr txBox="1"/>
          <p:nvPr/>
        </p:nvSpPr>
        <p:spPr>
          <a:xfrm>
            <a:off x="1920240" y="2148840"/>
            <a:ext cx="155448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Catalogue</a:t>
            </a:r>
            <a:endParaRPr lang="en-US" sz="1200" dirty="0"/>
          </a:p>
        </p:txBody>
      </p:sp>
      <p:sp>
        <p:nvSpPr>
          <p:cNvPr id="18" name="chip-140"/>
          <p:cNvSpPr txBox="1"/>
          <p:nvPr/>
        </p:nvSpPr>
        <p:spPr>
          <a:xfrm>
            <a:off x="3611880" y="2148840"/>
            <a:ext cx="155448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Cart</a:t>
            </a:r>
            <a:endParaRPr lang="en-US" sz="1200" dirty="0"/>
          </a:p>
        </p:txBody>
      </p:sp>
      <p:sp>
        <p:nvSpPr>
          <p:cNvPr id="19" name="chip-141"/>
          <p:cNvSpPr txBox="1"/>
          <p:nvPr/>
        </p:nvSpPr>
        <p:spPr>
          <a:xfrm>
            <a:off x="5303520" y="2148840"/>
            <a:ext cx="155448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Checkout</a:t>
            </a:r>
            <a:endParaRPr lang="en-US" sz="1200" dirty="0"/>
          </a:p>
        </p:txBody>
      </p:sp>
      <p:sp>
        <p:nvSpPr>
          <p:cNvPr id="20" name="chip-142"/>
          <p:cNvSpPr txBox="1"/>
          <p:nvPr/>
        </p:nvSpPr>
        <p:spPr>
          <a:xfrm>
            <a:off x="6995160" y="2148840"/>
            <a:ext cx="15544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Inventory &amp; Reservation</a:t>
            </a:r>
            <a:endParaRPr lang="en-US" sz="1100" dirty="0"/>
          </a:p>
        </p:txBody>
      </p:sp>
      <p:sp>
        <p:nvSpPr>
          <p:cNvPr id="21" name="chip-143"/>
          <p:cNvSpPr txBox="1"/>
          <p:nvPr/>
        </p:nvSpPr>
        <p:spPr>
          <a:xfrm>
            <a:off x="1920240" y="2697480"/>
            <a:ext cx="155448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Payment</a:t>
            </a:r>
            <a:endParaRPr lang="en-US" sz="1200" dirty="0"/>
          </a:p>
        </p:txBody>
      </p:sp>
      <p:sp>
        <p:nvSpPr>
          <p:cNvPr id="22" name="chip-144"/>
          <p:cNvSpPr txBox="1"/>
          <p:nvPr/>
        </p:nvSpPr>
        <p:spPr>
          <a:xfrm>
            <a:off x="3611880" y="2697480"/>
            <a:ext cx="155448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Order</a:t>
            </a:r>
            <a:endParaRPr lang="en-US" sz="1200" dirty="0"/>
          </a:p>
        </p:txBody>
      </p:sp>
      <p:sp>
        <p:nvSpPr>
          <p:cNvPr id="23" name="chip-145"/>
          <p:cNvSpPr txBox="1"/>
          <p:nvPr/>
        </p:nvSpPr>
        <p:spPr>
          <a:xfrm>
            <a:off x="5303520" y="2697480"/>
            <a:ext cx="155448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Shipment</a:t>
            </a:r>
            <a:endParaRPr lang="en-US" sz="1200" dirty="0"/>
          </a:p>
        </p:txBody>
      </p:sp>
      <p:sp>
        <p:nvSpPr>
          <p:cNvPr id="24" name="chip-146"/>
          <p:cNvSpPr txBox="1"/>
          <p:nvPr/>
        </p:nvSpPr>
        <p:spPr>
          <a:xfrm>
            <a:off x="6995160" y="2697480"/>
            <a:ext cx="155448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Notification</a:t>
            </a:r>
            <a:endParaRPr lang="en-US" sz="1200" dirty="0"/>
          </a:p>
        </p:txBody>
      </p:sp>
      <p:sp>
        <p:nvSpPr>
          <p:cNvPr id="25" name="chip-147"/>
          <p:cNvSpPr txBox="1"/>
          <p:nvPr/>
        </p:nvSpPr>
        <p:spPr>
          <a:xfrm>
            <a:off x="1920240" y="356616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Redis · cache</a:t>
            </a:r>
            <a:endParaRPr lang="en-US" sz="1200" dirty="0"/>
          </a:p>
        </p:txBody>
      </p:sp>
      <p:sp>
        <p:nvSpPr>
          <p:cNvPr id="26" name="chip-148"/>
          <p:cNvSpPr txBox="1"/>
          <p:nvPr/>
        </p:nvSpPr>
        <p:spPr>
          <a:xfrm>
            <a:off x="3611880" y="356616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 · truth</a:t>
            </a:r>
            <a:endParaRPr lang="en-US" sz="1200" dirty="0"/>
          </a:p>
        </p:txBody>
      </p:sp>
      <p:sp>
        <p:nvSpPr>
          <p:cNvPr id="27" name="chip-149"/>
          <p:cNvSpPr txBox="1"/>
          <p:nvPr/>
        </p:nvSpPr>
        <p:spPr>
          <a:xfrm>
            <a:off x="5303520" y="356616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Kafka · events</a:t>
            </a:r>
            <a:endParaRPr lang="en-US" sz="1200" dirty="0"/>
          </a:p>
        </p:txBody>
      </p:sp>
      <p:sp>
        <p:nvSpPr>
          <p:cNvPr id="28" name="chip-150"/>
          <p:cNvSpPr txBox="1"/>
          <p:nvPr/>
        </p:nvSpPr>
        <p:spPr>
          <a:xfrm>
            <a:off x="6995160" y="356616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29" name="text-151"/>
          <p:cNvSpPr txBox="1"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Stateless services scale horizontally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&amp; Reservation is the sole stock authority; Redis is cache only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10,000 requests, at most 100 reservations</a:t>
            </a:r>
            <a:endParaRPr lang="en-US" sz="3000" dirty="0"/>
          </a:p>
        </p:txBody>
      </p:sp>
      <p:sp>
        <p:nvSpPr>
          <p:cNvPr id="4" name="chip-152"/>
          <p:cNvSpPr txBox="1"/>
          <p:nvPr/>
        </p:nvSpPr>
        <p:spPr>
          <a:xfrm>
            <a:off x="457200" y="1188720"/>
            <a:ext cx="44805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10,000 Buy requests</a:t>
            </a:r>
            <a:endParaRPr lang="en-US" sz="1300" dirty="0"/>
          </a:p>
        </p:txBody>
      </p:sp>
      <p:sp>
        <p:nvSpPr>
          <p:cNvPr id="5" name="chip-153"/>
          <p:cNvSpPr txBox="1"/>
          <p:nvPr/>
        </p:nvSpPr>
        <p:spPr>
          <a:xfrm>
            <a:off x="777240" y="1810512"/>
            <a:ext cx="384048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Edge: WAF · rate limit · dedupe</a:t>
            </a:r>
            <a:endParaRPr lang="en-US" sz="1300" dirty="0"/>
          </a:p>
        </p:txBody>
      </p:sp>
      <p:sp>
        <p:nvSpPr>
          <p:cNvPr id="6" name="chip-154"/>
          <p:cNvSpPr txBox="1"/>
          <p:nvPr/>
        </p:nvSpPr>
        <p:spPr>
          <a:xfrm>
            <a:off x="1097280" y="2432304"/>
            <a:ext cx="320040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Admission: queue · sold-out flag</a:t>
            </a:r>
            <a:endParaRPr lang="en-US" sz="1300" dirty="0"/>
          </a:p>
        </p:txBody>
      </p:sp>
      <p:sp>
        <p:nvSpPr>
          <p:cNvPr id="7" name="chip-155"/>
          <p:cNvSpPr txBox="1"/>
          <p:nvPr/>
        </p:nvSpPr>
        <p:spPr>
          <a:xfrm>
            <a:off x="1417320" y="3054096"/>
            <a:ext cx="25603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Atomic SQL UPDATE</a:t>
            </a:r>
            <a:endParaRPr lang="en-US" sz="1300" dirty="0"/>
          </a:p>
        </p:txBody>
      </p:sp>
      <p:sp>
        <p:nvSpPr>
          <p:cNvPr id="8" name="chip-156"/>
          <p:cNvSpPr txBox="1"/>
          <p:nvPr/>
        </p:nvSpPr>
        <p:spPr>
          <a:xfrm>
            <a:off x="1737360" y="3675888"/>
            <a:ext cx="192024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≤ 100 RESERVED</a:t>
            </a:r>
            <a:endParaRPr lang="en-US" sz="1300" dirty="0"/>
          </a:p>
        </p:txBody>
      </p:sp>
      <p:sp>
        <p:nvSpPr>
          <p:cNvPr id="9" name="text-157"/>
          <p:cNvSpPr txBox="1"/>
          <p:nvPr/>
        </p:nvSpPr>
        <p:spPr>
          <a:xfrm>
            <a:off x="45720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Everyone else gets a fast 409 · sold out</a:t>
            </a:r>
            <a:endParaRPr lang="en-US" sz="1200" dirty="0"/>
          </a:p>
        </p:txBody>
      </p:sp>
      <p:sp>
        <p:nvSpPr>
          <p:cNvPr id="10" name="code-158"/>
          <p:cNvSpPr/>
          <p:nvPr/>
        </p:nvSpPr>
        <p:spPr>
          <a:xfrm>
            <a:off x="5303520" y="1188720"/>
            <a:ext cx="33832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1" name="text-159"/>
          <p:cNvSpPr txBox="1"/>
          <p:nvPr/>
        </p:nvSpPr>
        <p:spPr>
          <a:xfrm>
            <a:off x="5486400" y="1280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inventory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available = available - 1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product_id = :pid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available &gt;=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 row = RESERVED, 0 = SOLD OUT</a:t>
            </a:r>
            <a:endParaRPr lang="en-US" sz="1100" dirty="0"/>
          </a:p>
        </p:txBody>
      </p:sp>
      <p:sp>
        <p:nvSpPr>
          <p:cNvPr id="12" name="text-160"/>
          <p:cNvSpPr txBox="1"/>
          <p:nvPr/>
        </p:nvSpPr>
        <p:spPr>
          <a:xfrm>
            <a:off x="530352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not locks?</a:t>
            </a:r>
            <a:endParaRPr lang="en-US" sz="1600" dirty="0"/>
          </a:p>
        </p:txBody>
      </p:sp>
      <p:sp>
        <p:nvSpPr>
          <p:cNvPr id="13" name="dot-161"/>
          <p:cNvSpPr/>
          <p:nvPr/>
        </p:nvSpPr>
        <p:spPr>
          <a:xfrm>
            <a:off x="5303520" y="321868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-162"/>
          <p:cNvSpPr txBox="1"/>
          <p:nvPr/>
        </p:nvSpPr>
        <p:spPr>
          <a:xfrm>
            <a:off x="5577840" y="3154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Pessimistic lock  </a:t>
            </a:r>
            <a:r>
              <a:rPr lang="en-US" sz="1300" dirty="0">
                <a:solidFill>
                  <a:schemeClr val="tx1"/>
                </a:solidFill>
              </a:rPr>
              <a:t>queues, timeouts, deadlocks</a:t>
            </a:r>
            <a:endParaRPr lang="en-US" sz="1300" dirty="0"/>
          </a:p>
        </p:txBody>
      </p:sp>
      <p:sp>
        <p:nvSpPr>
          <p:cNvPr id="15" name="dot-163"/>
          <p:cNvSpPr/>
          <p:nvPr/>
        </p:nvSpPr>
        <p:spPr>
          <a:xfrm>
            <a:off x="5303520" y="363016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-164"/>
          <p:cNvSpPr txBox="1"/>
          <p:nvPr/>
        </p:nvSpPr>
        <p:spPr>
          <a:xfrm>
            <a:off x="5577840" y="3566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Optimistic retry  </a:t>
            </a:r>
            <a:r>
              <a:rPr lang="en-US" sz="1300" dirty="0">
                <a:solidFill>
                  <a:schemeClr val="tx1"/>
                </a:solidFill>
              </a:rPr>
              <a:t>retry storm on hot row</a:t>
            </a:r>
            <a:endParaRPr lang="en-US" sz="1300" dirty="0"/>
          </a:p>
        </p:txBody>
      </p:sp>
      <p:sp>
        <p:nvSpPr>
          <p:cNvPr id="17" name="dot-165"/>
          <p:cNvSpPr/>
          <p:nvPr/>
        </p:nvSpPr>
        <p:spPr>
          <a:xfrm>
            <a:off x="5303520" y="4041648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-166"/>
          <p:cNvSpPr txBox="1"/>
          <p:nvPr/>
        </p:nvSpPr>
        <p:spPr>
          <a:xfrm>
            <a:off x="5577840" y="3977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Atomic UPDATE  </a:t>
            </a:r>
            <a:r>
              <a:rPr lang="en-US" sz="1300" dirty="0">
                <a:solidFill>
                  <a:schemeClr val="tx1"/>
                </a:solidFill>
              </a:rPr>
              <a:t>one statement, no retries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Reservation lifecycle</a:t>
            </a:r>
            <a:endParaRPr lang="en-US" sz="3000" dirty="0"/>
          </a:p>
        </p:txBody>
      </p:sp>
      <p:sp>
        <p:nvSpPr>
          <p:cNvPr id="4" name="text-167"/>
          <p:cNvSpPr txBox="1"/>
          <p:nvPr/>
        </p:nvSpPr>
        <p:spPr>
          <a:xfrm>
            <a:off x="4572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5"/>
                </a:solidFill>
              </a:rPr>
              <a:t>HAPPY PATH</a:t>
            </a:r>
            <a:endParaRPr lang="en-US" sz="1100" dirty="0"/>
          </a:p>
        </p:txBody>
      </p:sp>
      <p:sp>
        <p:nvSpPr>
          <p:cNvPr id="5" name="chip-168"/>
          <p:cNvSpPr txBox="1"/>
          <p:nvPr/>
        </p:nvSpPr>
        <p:spPr>
          <a:xfrm>
            <a:off x="457200" y="14173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AVAILABLE</a:t>
            </a:r>
            <a:endParaRPr lang="en-US" sz="1100" dirty="0"/>
          </a:p>
        </p:txBody>
      </p:sp>
      <p:sp>
        <p:nvSpPr>
          <p:cNvPr id="6" name="arrow-169"/>
          <p:cNvSpPr/>
          <p:nvPr/>
        </p:nvSpPr>
        <p:spPr>
          <a:xfrm>
            <a:off x="1920240" y="173736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chip-170"/>
          <p:cNvSpPr txBox="1"/>
          <p:nvPr/>
        </p:nvSpPr>
        <p:spPr>
          <a:xfrm>
            <a:off x="2148840" y="14173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RESERVED</a:t>
            </a:r>
            <a:endParaRPr lang="en-US" sz="1100" dirty="0"/>
          </a:p>
        </p:txBody>
      </p:sp>
      <p:sp>
        <p:nvSpPr>
          <p:cNvPr id="8" name="arrow-171"/>
          <p:cNvSpPr/>
          <p:nvPr/>
        </p:nvSpPr>
        <p:spPr>
          <a:xfrm>
            <a:off x="3611880" y="173736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chip-172"/>
          <p:cNvSpPr txBox="1"/>
          <p:nvPr/>
        </p:nvSpPr>
        <p:spPr>
          <a:xfrm>
            <a:off x="3840480" y="14173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PAYMENT_PENDING</a:t>
            </a:r>
            <a:endParaRPr lang="en-US" sz="1100" dirty="0"/>
          </a:p>
        </p:txBody>
      </p:sp>
      <p:sp>
        <p:nvSpPr>
          <p:cNvPr id="10" name="arrow-173"/>
          <p:cNvSpPr/>
          <p:nvPr/>
        </p:nvSpPr>
        <p:spPr>
          <a:xfrm>
            <a:off x="5303520" y="173736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chip-174"/>
          <p:cNvSpPr txBox="1"/>
          <p:nvPr/>
        </p:nvSpPr>
        <p:spPr>
          <a:xfrm>
            <a:off x="5532120" y="14173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CONFIRMED</a:t>
            </a:r>
            <a:endParaRPr lang="en-US" sz="1100" dirty="0"/>
          </a:p>
        </p:txBody>
      </p:sp>
      <p:sp>
        <p:nvSpPr>
          <p:cNvPr id="12" name="arrow-175"/>
          <p:cNvSpPr/>
          <p:nvPr/>
        </p:nvSpPr>
        <p:spPr>
          <a:xfrm>
            <a:off x="6995160" y="173736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chip-176"/>
          <p:cNvSpPr txBox="1"/>
          <p:nvPr/>
        </p:nvSpPr>
        <p:spPr>
          <a:xfrm>
            <a:off x="7223760" y="14173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SOLD</a:t>
            </a:r>
            <a:endParaRPr lang="en-US" sz="1100" dirty="0"/>
          </a:p>
        </p:txBody>
      </p:sp>
      <p:sp>
        <p:nvSpPr>
          <p:cNvPr id="14" name="arrow-177"/>
          <p:cNvSpPr/>
          <p:nvPr/>
        </p:nvSpPr>
        <p:spPr>
          <a:xfrm>
            <a:off x="2880360" y="2057400"/>
            <a:ext cx="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arrow-178"/>
          <p:cNvSpPr/>
          <p:nvPr/>
        </p:nvSpPr>
        <p:spPr>
          <a:xfrm>
            <a:off x="4572000" y="2057400"/>
            <a:ext cx="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chip-179"/>
          <p:cNvSpPr txBox="1"/>
          <p:nvPr/>
        </p:nvSpPr>
        <p:spPr>
          <a:xfrm>
            <a:off x="2651760" y="2606040"/>
            <a:ext cx="214884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RELEASED</a:t>
            </a:r>
            <a:endParaRPr lang="en-US" sz="1200" dirty="0"/>
          </a:p>
        </p:txBody>
      </p:sp>
      <p:sp>
        <p:nvSpPr>
          <p:cNvPr id="17" name="text-180"/>
          <p:cNvSpPr txBox="1"/>
          <p:nvPr/>
        </p:nvSpPr>
        <p:spPr>
          <a:xfrm>
            <a:off x="4983480" y="2606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TTL (5 min) or payment failed → stock restored</a:t>
            </a:r>
            <a:endParaRPr lang="en-US" sz="1300" dirty="0"/>
          </a:p>
        </p:txBody>
      </p:sp>
      <p:sp>
        <p:nvSpPr>
          <p:cNvPr id="18" name="card-181"/>
          <p:cNvSpPr/>
          <p:nvPr/>
        </p:nvSpPr>
        <p:spPr>
          <a:xfrm>
            <a:off x="457200" y="33375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9" name="text-182"/>
          <p:cNvSpPr txBox="1"/>
          <p:nvPr/>
        </p:nvSpPr>
        <p:spPr>
          <a:xfrm>
            <a:off x="64008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short transaction</a:t>
            </a:r>
            <a:endParaRPr lang="en-US" sz="1500" dirty="0"/>
          </a:p>
        </p:txBody>
      </p:sp>
      <p:sp>
        <p:nvSpPr>
          <p:cNvPr id="20" name="text-183"/>
          <p:cNvSpPr txBox="1"/>
          <p:nvPr/>
        </p:nvSpPr>
        <p:spPr>
          <a:xfrm>
            <a:off x="6400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Key check, conditional UPDATE, INSERT reservation + outbox, COMMIT</a:t>
            </a:r>
            <a:endParaRPr lang="en-US" sz="1300" dirty="0"/>
          </a:p>
        </p:txBody>
      </p:sp>
      <p:sp>
        <p:nvSpPr>
          <p:cNvPr id="21" name="card-184"/>
          <p:cNvSpPr/>
          <p:nvPr/>
        </p:nvSpPr>
        <p:spPr>
          <a:xfrm>
            <a:off x="3291840" y="33375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2" name="text-185"/>
          <p:cNvSpPr txBox="1"/>
          <p:nvPr/>
        </p:nvSpPr>
        <p:spPr>
          <a:xfrm>
            <a:off x="347472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lock during payment</a:t>
            </a:r>
            <a:endParaRPr lang="en-US" sz="1500" dirty="0"/>
          </a:p>
        </p:txBody>
      </p:sp>
      <p:sp>
        <p:nvSpPr>
          <p:cNvPr id="23" name="text-186"/>
          <p:cNvSpPr txBox="1"/>
          <p:nvPr/>
        </p:nvSpPr>
        <p:spPr>
          <a:xfrm>
            <a:off x="34747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Gateway is called only after commit</a:t>
            </a:r>
            <a:endParaRPr lang="en-US" sz="1300" dirty="0"/>
          </a:p>
        </p:txBody>
      </p:sp>
      <p:sp>
        <p:nvSpPr>
          <p:cNvPr id="24" name="card-187"/>
          <p:cNvSpPr/>
          <p:nvPr/>
        </p:nvSpPr>
        <p:spPr>
          <a:xfrm>
            <a:off x="6126480" y="33375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5" name="text-188"/>
          <p:cNvSpPr txBox="1"/>
          <p:nvPr/>
        </p:nvSpPr>
        <p:spPr>
          <a:xfrm>
            <a:off x="63093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Expiry worker</a:t>
            </a:r>
            <a:endParaRPr lang="en-US" sz="1500" dirty="0"/>
          </a:p>
        </p:txBody>
      </p:sp>
      <p:sp>
        <p:nvSpPr>
          <p:cNvPr id="26" name="text-189"/>
          <p:cNvSpPr txBox="1"/>
          <p:nvPr/>
        </p:nvSpPr>
        <p:spPr>
          <a:xfrm>
            <a:off x="630936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Unpaid reservations return to stock automatically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Payment: a timeout means unknown</a:t>
            </a:r>
            <a:endParaRPr lang="en-US" sz="3000" dirty="0"/>
          </a:p>
        </p:txBody>
      </p:sp>
      <p:sp>
        <p:nvSpPr>
          <p:cNvPr id="4" name="chip-190"/>
          <p:cNvSpPr txBox="1"/>
          <p:nvPr/>
        </p:nvSpPr>
        <p:spPr>
          <a:xfrm>
            <a:off x="457200" y="118872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Insert payment · UQ(key)</a:t>
            </a:r>
            <a:endParaRPr lang="en-US" sz="1300" dirty="0"/>
          </a:p>
        </p:txBody>
      </p:sp>
      <p:sp>
        <p:nvSpPr>
          <p:cNvPr id="5" name="arrow-191"/>
          <p:cNvSpPr/>
          <p:nvPr/>
        </p:nvSpPr>
        <p:spPr>
          <a:xfrm>
            <a:off x="2926080" y="1508760"/>
            <a:ext cx="4572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chip-192"/>
          <p:cNvSpPr txBox="1"/>
          <p:nvPr/>
        </p:nvSpPr>
        <p:spPr>
          <a:xfrm>
            <a:off x="3383280" y="118872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Charge gateway · 3 s timeout</a:t>
            </a:r>
            <a:endParaRPr lang="en-US" sz="1300" dirty="0"/>
          </a:p>
        </p:txBody>
      </p:sp>
      <p:sp>
        <p:nvSpPr>
          <p:cNvPr id="7" name="arrow-193"/>
          <p:cNvSpPr/>
          <p:nvPr/>
        </p:nvSpPr>
        <p:spPr>
          <a:xfrm>
            <a:off x="5852160" y="1508760"/>
            <a:ext cx="4572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chip-194"/>
          <p:cNvSpPr txBox="1"/>
          <p:nvPr/>
        </p:nvSpPr>
        <p:spPr>
          <a:xfrm>
            <a:off x="6309360" y="118872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SUCCESS · FAILED · TIMEOUT</a:t>
            </a:r>
            <a:endParaRPr lang="en-US" sz="1300" dirty="0"/>
          </a:p>
        </p:txBody>
      </p:sp>
      <p:sp>
        <p:nvSpPr>
          <p:cNvPr id="9" name="card-195"/>
          <p:cNvSpPr/>
          <p:nvPr/>
        </p:nvSpPr>
        <p:spPr>
          <a:xfrm>
            <a:off x="457200" y="2377440"/>
            <a:ext cx="1554480" cy="16459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0" name="dot-196"/>
          <p:cNvSpPr/>
          <p:nvPr/>
        </p:nvSpPr>
        <p:spPr>
          <a:xfrm>
            <a:off x="594360" y="2542032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-197"/>
          <p:cNvSpPr txBox="1"/>
          <p:nvPr/>
        </p:nvSpPr>
        <p:spPr>
          <a:xfrm>
            <a:off x="59436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Success</a:t>
            </a:r>
            <a:endParaRPr lang="en-US" sz="1500" dirty="0"/>
          </a:p>
        </p:txBody>
      </p:sp>
      <p:sp>
        <p:nvSpPr>
          <p:cNvPr id="12" name="text-198"/>
          <p:cNvSpPr txBox="1"/>
          <p:nvPr/>
        </p:nvSpPr>
        <p:spPr>
          <a:xfrm>
            <a:off x="594360" y="32004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Persist, confirm stock, create order</a:t>
            </a:r>
            <a:endParaRPr lang="en-US" sz="1200" dirty="0"/>
          </a:p>
        </p:txBody>
      </p:sp>
      <p:sp>
        <p:nvSpPr>
          <p:cNvPr id="13" name="card-199"/>
          <p:cNvSpPr/>
          <p:nvPr/>
        </p:nvSpPr>
        <p:spPr>
          <a:xfrm>
            <a:off x="2125980" y="2377440"/>
            <a:ext cx="1554480" cy="16459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dot-200"/>
          <p:cNvSpPr/>
          <p:nvPr/>
        </p:nvSpPr>
        <p:spPr>
          <a:xfrm>
            <a:off x="2263140" y="2542032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-201"/>
          <p:cNvSpPr txBox="1"/>
          <p:nvPr/>
        </p:nvSpPr>
        <p:spPr>
          <a:xfrm>
            <a:off x="226314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Failure</a:t>
            </a:r>
            <a:endParaRPr lang="en-US" sz="1500" dirty="0"/>
          </a:p>
        </p:txBody>
      </p:sp>
      <p:sp>
        <p:nvSpPr>
          <p:cNvPr id="16" name="text-202"/>
          <p:cNvSpPr txBox="1"/>
          <p:nvPr/>
        </p:nvSpPr>
        <p:spPr>
          <a:xfrm>
            <a:off x="2263140" y="32004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Release reservation; stock resold</a:t>
            </a:r>
            <a:endParaRPr lang="en-US" sz="1200" dirty="0"/>
          </a:p>
        </p:txBody>
      </p:sp>
      <p:sp>
        <p:nvSpPr>
          <p:cNvPr id="17" name="card-203"/>
          <p:cNvSpPr/>
          <p:nvPr/>
        </p:nvSpPr>
        <p:spPr>
          <a:xfrm>
            <a:off x="3794760" y="2377440"/>
            <a:ext cx="1554480" cy="16459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8" name="dot-204"/>
          <p:cNvSpPr/>
          <p:nvPr/>
        </p:nvSpPr>
        <p:spPr>
          <a:xfrm>
            <a:off x="3931920" y="254203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-205"/>
          <p:cNvSpPr txBox="1"/>
          <p:nvPr/>
        </p:nvSpPr>
        <p:spPr>
          <a:xfrm>
            <a:off x="393192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Timeout</a:t>
            </a:r>
            <a:endParaRPr lang="en-US" sz="1500" dirty="0"/>
          </a:p>
        </p:txBody>
      </p:sp>
      <p:sp>
        <p:nvSpPr>
          <p:cNvPr id="20" name="text-206"/>
          <p:cNvSpPr txBox="1"/>
          <p:nvPr/>
        </p:nvSpPr>
        <p:spPr>
          <a:xfrm>
            <a:off x="3931920" y="32004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Mark UNKNOWN, query gateway, decide on final status</a:t>
            </a:r>
            <a:endParaRPr lang="en-US" sz="1200" dirty="0"/>
          </a:p>
        </p:txBody>
      </p:sp>
      <p:sp>
        <p:nvSpPr>
          <p:cNvPr id="21" name="card-207"/>
          <p:cNvSpPr/>
          <p:nvPr/>
        </p:nvSpPr>
        <p:spPr>
          <a:xfrm>
            <a:off x="5463540" y="2377440"/>
            <a:ext cx="1554480" cy="16459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2" name="dot-208"/>
          <p:cNvSpPr/>
          <p:nvPr/>
        </p:nvSpPr>
        <p:spPr>
          <a:xfrm>
            <a:off x="5600700" y="254203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-209"/>
          <p:cNvSpPr txBox="1"/>
          <p:nvPr/>
        </p:nvSpPr>
        <p:spPr>
          <a:xfrm>
            <a:off x="560070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Duplicate</a:t>
            </a:r>
            <a:endParaRPr lang="en-US" sz="1500" dirty="0"/>
          </a:p>
        </p:txBody>
      </p:sp>
      <p:sp>
        <p:nvSpPr>
          <p:cNvPr id="24" name="text-210"/>
          <p:cNvSpPr txBox="1"/>
          <p:nvPr/>
        </p:nvSpPr>
        <p:spPr>
          <a:xfrm>
            <a:off x="5600700" y="32004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Same key returns stored result; charged once</a:t>
            </a:r>
            <a:endParaRPr lang="en-US" sz="1200" dirty="0"/>
          </a:p>
        </p:txBody>
      </p:sp>
      <p:sp>
        <p:nvSpPr>
          <p:cNvPr id="25" name="card-211"/>
          <p:cNvSpPr/>
          <p:nvPr/>
        </p:nvSpPr>
        <p:spPr>
          <a:xfrm>
            <a:off x="7132320" y="2377440"/>
            <a:ext cx="1554480" cy="16459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6" name="dot-212"/>
          <p:cNvSpPr/>
          <p:nvPr/>
        </p:nvSpPr>
        <p:spPr>
          <a:xfrm>
            <a:off x="7269480" y="254203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text-213"/>
          <p:cNvSpPr txBox="1"/>
          <p:nvPr/>
        </p:nvSpPr>
        <p:spPr>
          <a:xfrm>
            <a:off x="726948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Gateway down</a:t>
            </a:r>
            <a:endParaRPr lang="en-US" sz="1500" dirty="0"/>
          </a:p>
        </p:txBody>
      </p:sp>
      <p:sp>
        <p:nvSpPr>
          <p:cNvPr id="28" name="text-214"/>
          <p:cNvSpPr txBox="1"/>
          <p:nvPr/>
        </p:nvSpPr>
        <p:spPr>
          <a:xfrm>
            <a:off x="7269480" y="32004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Breaker opens; unpaid reservation expires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Recovery: a paid order is never lost</a:t>
            </a:r>
            <a:endParaRPr lang="en-US" sz="3000" dirty="0"/>
          </a:p>
        </p:txBody>
      </p:sp>
      <p:sp>
        <p:nvSpPr>
          <p:cNvPr id="4" name="chip-215"/>
          <p:cNvSpPr txBox="1"/>
          <p:nvPr/>
        </p:nvSpPr>
        <p:spPr>
          <a:xfrm>
            <a:off x="457200" y="118872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Payment SUCCESS + outbox</a:t>
            </a:r>
            <a:endParaRPr lang="en-US" sz="1200" dirty="0"/>
          </a:p>
        </p:txBody>
      </p:sp>
      <p:sp>
        <p:nvSpPr>
          <p:cNvPr id="5" name="arrow-216"/>
          <p:cNvSpPr/>
          <p:nvPr/>
        </p:nvSpPr>
        <p:spPr>
          <a:xfrm>
            <a:off x="1920240" y="1627632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chip-217"/>
          <p:cNvSpPr txBox="1"/>
          <p:nvPr/>
        </p:nvSpPr>
        <p:spPr>
          <a:xfrm>
            <a:off x="2148840" y="118872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Kafka retains event</a:t>
            </a:r>
            <a:endParaRPr lang="en-US" sz="1200" dirty="0"/>
          </a:p>
        </p:txBody>
      </p:sp>
      <p:sp>
        <p:nvSpPr>
          <p:cNvPr id="7" name="arrow-218"/>
          <p:cNvSpPr/>
          <p:nvPr/>
        </p:nvSpPr>
        <p:spPr>
          <a:xfrm>
            <a:off x="3611880" y="1627632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chip-219"/>
          <p:cNvSpPr txBox="1"/>
          <p:nvPr/>
        </p:nvSpPr>
        <p:spPr>
          <a:xfrm>
            <a:off x="3840480" y="118872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Order Service DOWN ≈ 30 s</a:t>
            </a:r>
            <a:endParaRPr lang="en-US" sz="1200" dirty="0"/>
          </a:p>
        </p:txBody>
      </p:sp>
      <p:sp>
        <p:nvSpPr>
          <p:cNvPr id="9" name="arrow-220"/>
          <p:cNvSpPr/>
          <p:nvPr/>
        </p:nvSpPr>
        <p:spPr>
          <a:xfrm>
            <a:off x="5303520" y="1627632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chip-221"/>
          <p:cNvSpPr txBox="1"/>
          <p:nvPr/>
        </p:nvSpPr>
        <p:spPr>
          <a:xfrm>
            <a:off x="5532120" y="118872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Event redelivered</a:t>
            </a:r>
            <a:endParaRPr lang="en-US" sz="1200" dirty="0"/>
          </a:p>
        </p:txBody>
      </p:sp>
      <p:sp>
        <p:nvSpPr>
          <p:cNvPr id="11" name="arrow-222"/>
          <p:cNvSpPr/>
          <p:nvPr/>
        </p:nvSpPr>
        <p:spPr>
          <a:xfrm>
            <a:off x="6995160" y="1627632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chip-223"/>
          <p:cNvSpPr txBox="1"/>
          <p:nvPr/>
        </p:nvSpPr>
        <p:spPr>
          <a:xfrm>
            <a:off x="7223760" y="118872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Order created · UQ(reservation)</a:t>
            </a:r>
            <a:endParaRPr lang="en-US" sz="1200" dirty="0"/>
          </a:p>
        </p:txBody>
      </p:sp>
      <p:sp>
        <p:nvSpPr>
          <p:cNvPr id="13" name="card-224"/>
          <p:cNvSpPr/>
          <p:nvPr/>
        </p:nvSpPr>
        <p:spPr>
          <a:xfrm>
            <a:off x="457200" y="242316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4" name="text-225"/>
          <p:cNvSpPr txBox="1"/>
          <p:nvPr/>
        </p:nvSpPr>
        <p:spPr>
          <a:xfrm>
            <a:off x="640080" y="2514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Transactional outbox</a:t>
            </a:r>
            <a:endParaRPr lang="en-US" sz="1500" dirty="0"/>
          </a:p>
        </p:txBody>
      </p:sp>
      <p:sp>
        <p:nvSpPr>
          <p:cNvPr id="15" name="text-226"/>
          <p:cNvSpPr txBox="1"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Payment result and its event are written in one transaction</a:t>
            </a:r>
            <a:endParaRPr lang="en-US" sz="1300" dirty="0"/>
          </a:p>
        </p:txBody>
      </p:sp>
      <p:sp>
        <p:nvSpPr>
          <p:cNvPr id="16" name="card-227"/>
          <p:cNvSpPr/>
          <p:nvPr/>
        </p:nvSpPr>
        <p:spPr>
          <a:xfrm>
            <a:off x="4663440" y="242316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7" name="text-228"/>
          <p:cNvSpPr txBox="1"/>
          <p:nvPr/>
        </p:nvSpPr>
        <p:spPr>
          <a:xfrm>
            <a:off x="4846320" y="2514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Idempotent orders</a:t>
            </a:r>
            <a:endParaRPr lang="en-US" sz="1500" dirty="0"/>
          </a:p>
        </p:txBody>
      </p:sp>
      <p:sp>
        <p:nvSpPr>
          <p:cNvPr id="18" name="text-229"/>
          <p:cNvSpPr txBox="1"/>
          <p:nvPr/>
        </p:nvSpPr>
        <p:spPr>
          <a:xfrm>
            <a:off x="48463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UNIQUE(reservation_id): redelivery cannot create a second order</a:t>
            </a:r>
            <a:endParaRPr lang="en-US" sz="1300" dirty="0"/>
          </a:p>
        </p:txBody>
      </p:sp>
      <p:sp>
        <p:nvSpPr>
          <p:cNvPr id="19" name="card-230"/>
          <p:cNvSpPr/>
          <p:nvPr/>
        </p:nvSpPr>
        <p:spPr>
          <a:xfrm>
            <a:off x="457200" y="35204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0" name="text-231"/>
          <p:cNvSpPr txBox="1"/>
          <p:nvPr/>
        </p:nvSpPr>
        <p:spPr>
          <a:xfrm>
            <a:off x="64008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Reconciliation worker</a:t>
            </a:r>
            <a:endParaRPr lang="en-US" sz="1500" dirty="0"/>
          </a:p>
        </p:txBody>
      </p:sp>
      <p:sp>
        <p:nvSpPr>
          <p:cNvPr id="21" name="text-232"/>
          <p:cNvSpPr txBox="1"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Finds paid payments without orders and republishes</a:t>
            </a:r>
            <a:endParaRPr lang="en-US" sz="1300" dirty="0"/>
          </a:p>
        </p:txBody>
      </p:sp>
      <p:sp>
        <p:nvSpPr>
          <p:cNvPr id="22" name="card-233"/>
          <p:cNvSpPr/>
          <p:nvPr/>
        </p:nvSpPr>
        <p:spPr>
          <a:xfrm>
            <a:off x="4663440" y="35204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3" name="text-234"/>
          <p:cNvSpPr txBox="1"/>
          <p:nvPr/>
        </p:nvSpPr>
        <p:spPr>
          <a:xfrm>
            <a:off x="484632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Dead-letter + alert</a:t>
            </a:r>
            <a:endParaRPr lang="en-US" sz="1500" dirty="0"/>
          </a:p>
        </p:txBody>
      </p:sp>
      <p:sp>
        <p:nvSpPr>
          <p:cNvPr id="24" name="text-235"/>
          <p:cNvSpPr txBox="1"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Repeated failures are isolated and raised to the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and design that enforce the rules</a:t>
            </a:r>
            <a:endParaRPr lang="en-US" sz="3000" dirty="0"/>
          </a:p>
        </p:txBody>
      </p:sp>
      <p:sp>
        <p:nvSpPr>
          <p:cNvPr id="4" name="table-236"/>
          <p:cNvSpPr/>
          <p:nvPr/>
        </p:nvSpPr>
        <p:spPr>
          <a:xfrm>
            <a:off x="457200" y="118872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chip-237"/>
          <p:cNvSpPr txBox="1"/>
          <p:nvPr/>
        </p:nvSpPr>
        <p:spPr>
          <a:xfrm>
            <a:off x="457200" y="1188720"/>
            <a:ext cx="19659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INVENTORY</a:t>
            </a:r>
            <a:endParaRPr lang="en-US" sz="1200" dirty="0"/>
          </a:p>
        </p:txBody>
      </p:sp>
      <p:sp>
        <p:nvSpPr>
          <p:cNvPr id="6" name="text-238"/>
          <p:cNvSpPr txBox="1"/>
          <p:nvPr/>
        </p:nvSpPr>
        <p:spPr>
          <a:xfrm>
            <a:off x="59436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available · reserved · sold</a:t>
            </a:r>
            <a:endParaRPr lang="en-US" sz="1200" dirty="0"/>
          </a:p>
        </p:txBody>
      </p:sp>
      <p:sp>
        <p:nvSpPr>
          <p:cNvPr id="7" name="text-239"/>
          <p:cNvSpPr txBox="1"/>
          <p:nvPr/>
        </p:nvSpPr>
        <p:spPr>
          <a:xfrm>
            <a:off x="594360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CHECK available ≥ 0</a:t>
            </a:r>
            <a:endParaRPr lang="en-US" sz="1200" dirty="0"/>
          </a:p>
        </p:txBody>
      </p:sp>
      <p:sp>
        <p:nvSpPr>
          <p:cNvPr id="8" name="table-240"/>
          <p:cNvSpPr/>
          <p:nvPr/>
        </p:nvSpPr>
        <p:spPr>
          <a:xfrm>
            <a:off x="2606040" y="118872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chip-241"/>
          <p:cNvSpPr txBox="1"/>
          <p:nvPr/>
        </p:nvSpPr>
        <p:spPr>
          <a:xfrm>
            <a:off x="2606040" y="1188720"/>
            <a:ext cx="19659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RESERVATION</a:t>
            </a:r>
            <a:endParaRPr lang="en-US" sz="1200" dirty="0"/>
          </a:p>
        </p:txBody>
      </p:sp>
      <p:sp>
        <p:nvSpPr>
          <p:cNvPr id="10" name="text-242"/>
          <p:cNvSpPr txBox="1"/>
          <p:nvPr/>
        </p:nvSpPr>
        <p:spPr>
          <a:xfrm>
            <a:off x="27432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status · expires_at</a:t>
            </a:r>
            <a:endParaRPr lang="en-US" sz="1200" dirty="0"/>
          </a:p>
        </p:txBody>
      </p:sp>
      <p:sp>
        <p:nvSpPr>
          <p:cNvPr id="11" name="text-243"/>
          <p:cNvSpPr txBox="1"/>
          <p:nvPr/>
        </p:nvSpPr>
        <p:spPr>
          <a:xfrm>
            <a:off x="2743200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UQ idempotency_key</a:t>
            </a:r>
            <a:endParaRPr lang="en-US" sz="1200" dirty="0"/>
          </a:p>
        </p:txBody>
      </p:sp>
      <p:sp>
        <p:nvSpPr>
          <p:cNvPr id="12" name="table-244"/>
          <p:cNvSpPr/>
          <p:nvPr/>
        </p:nvSpPr>
        <p:spPr>
          <a:xfrm>
            <a:off x="457200" y="26517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chip-245"/>
          <p:cNvSpPr txBox="1"/>
          <p:nvPr/>
        </p:nvSpPr>
        <p:spPr>
          <a:xfrm>
            <a:off x="457200" y="2651760"/>
            <a:ext cx="19659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PAYMENT</a:t>
            </a:r>
            <a:endParaRPr lang="en-US" sz="1200" dirty="0"/>
          </a:p>
        </p:txBody>
      </p:sp>
      <p:sp>
        <p:nvSpPr>
          <p:cNvPr id="14" name="text-246"/>
          <p:cNvSpPr txBox="1"/>
          <p:nvPr/>
        </p:nvSpPr>
        <p:spPr>
          <a:xfrm>
            <a:off x="59436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status · amount</a:t>
            </a:r>
            <a:endParaRPr lang="en-US" sz="1200" dirty="0"/>
          </a:p>
        </p:txBody>
      </p:sp>
      <p:sp>
        <p:nvSpPr>
          <p:cNvPr id="15" name="text-247"/>
          <p:cNvSpPr txBox="1"/>
          <p:nvPr/>
        </p:nvSpPr>
        <p:spPr>
          <a:xfrm>
            <a:off x="594360" y="3493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UQ idempotency_key</a:t>
            </a:r>
            <a:endParaRPr lang="en-US" sz="1200" dirty="0"/>
          </a:p>
        </p:txBody>
      </p:sp>
      <p:sp>
        <p:nvSpPr>
          <p:cNvPr id="16" name="table-248"/>
          <p:cNvSpPr/>
          <p:nvPr/>
        </p:nvSpPr>
        <p:spPr>
          <a:xfrm>
            <a:off x="2606040" y="26517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chip-249"/>
          <p:cNvSpPr txBox="1"/>
          <p:nvPr/>
        </p:nvSpPr>
        <p:spPr>
          <a:xfrm>
            <a:off x="2606040" y="2651760"/>
            <a:ext cx="19659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ORDER</a:t>
            </a:r>
            <a:endParaRPr lang="en-US" sz="1200" dirty="0"/>
          </a:p>
        </p:txBody>
      </p:sp>
      <p:sp>
        <p:nvSpPr>
          <p:cNvPr id="18" name="text-250"/>
          <p:cNvSpPr txBox="1"/>
          <p:nvPr/>
        </p:nvSpPr>
        <p:spPr>
          <a:xfrm>
            <a:off x="27432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status · total_amount</a:t>
            </a:r>
            <a:endParaRPr lang="en-US" sz="1200" dirty="0"/>
          </a:p>
        </p:txBody>
      </p:sp>
      <p:sp>
        <p:nvSpPr>
          <p:cNvPr id="19" name="text-251"/>
          <p:cNvSpPr txBox="1"/>
          <p:nvPr/>
        </p:nvSpPr>
        <p:spPr>
          <a:xfrm>
            <a:off x="2743200" y="3493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UQ reservation_id</a:t>
            </a:r>
            <a:endParaRPr lang="en-US" sz="1200" dirty="0"/>
          </a:p>
        </p:txBody>
      </p:sp>
      <p:sp>
        <p:nvSpPr>
          <p:cNvPr id="20" name="text-252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Patterns and SOLID</a:t>
            </a:r>
            <a:endParaRPr lang="en-US" sz="1800" dirty="0"/>
          </a:p>
        </p:txBody>
      </p:sp>
      <p:sp>
        <p:nvSpPr>
          <p:cNvPr id="21" name="text-253"/>
          <p:cNvSpPr txBox="1"/>
          <p:nvPr/>
        </p:nvSpPr>
        <p:spPr>
          <a:xfrm>
            <a:off x="4846320" y="16002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Strategy + Adapter: swap Razorpay or Stripe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State: invalid jumps rejected (HTTP 409)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Repository: SQL kept out of logic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Facade: one checkout orchestrator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Circuit breaker: failing gateway fails fast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Events: notifications stay decoupled</a:t>
            </a:r>
            <a:endParaRPr lang="en-US" sz="1400" dirty="0"/>
          </a:p>
        </p:txBody>
      </p:sp>
      <p:sp>
        <p:nvSpPr>
          <p:cNvPr id="22" name="chip-254"/>
          <p:cNvSpPr txBox="1"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Invariant: available + reserved + sold = total stock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Scales out, fails safe</a:t>
            </a:r>
            <a:endParaRPr lang="en-US" sz="3000" dirty="0"/>
          </a:p>
        </p:txBody>
      </p:sp>
      <p:sp>
        <p:nvSpPr>
          <p:cNvPr id="4" name="text-255"/>
          <p:cNvSpPr txBox="1"/>
          <p:nvPr/>
        </p:nvSpPr>
        <p:spPr>
          <a:xfrm>
            <a:off x="45720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5"/>
                </a:solidFill>
              </a:rPr>
              <a:t>SCALE</a:t>
            </a:r>
            <a:endParaRPr lang="en-US" sz="1100" dirty="0"/>
          </a:p>
        </p:txBody>
      </p:sp>
      <p:sp>
        <p:nvSpPr>
          <p:cNvPr id="5" name="row-256"/>
          <p:cNvSpPr/>
          <p:nvPr/>
        </p:nvSpPr>
        <p:spPr>
          <a:xfrm>
            <a:off x="457200" y="1371600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6" name="num-257"/>
          <p:cNvSpPr txBox="1"/>
          <p:nvPr/>
        </p:nvSpPr>
        <p:spPr>
          <a:xfrm>
            <a:off x="530352" y="14264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-258"/>
          <p:cNvSpPr txBox="1"/>
          <p:nvPr/>
        </p:nvSpPr>
        <p:spPr>
          <a:xfrm>
            <a:off x="914400" y="13716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CDN  </a:t>
            </a:r>
            <a:r>
              <a:rPr lang="en-US" sz="1200" dirty="0">
                <a:solidFill>
                  <a:schemeClr val="tx1"/>
                </a:solidFill>
              </a:rPr>
              <a:t>static pages never hit origin</a:t>
            </a:r>
            <a:endParaRPr lang="en-US" sz="1200" dirty="0"/>
          </a:p>
        </p:txBody>
      </p:sp>
      <p:sp>
        <p:nvSpPr>
          <p:cNvPr id="8" name="row-259"/>
          <p:cNvSpPr/>
          <p:nvPr/>
        </p:nvSpPr>
        <p:spPr>
          <a:xfrm>
            <a:off x="457200" y="1828800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9" name="num-260"/>
          <p:cNvSpPr txBox="1"/>
          <p:nvPr/>
        </p:nvSpPr>
        <p:spPr>
          <a:xfrm>
            <a:off x="530352" y="18836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-261"/>
          <p:cNvSpPr txBox="1"/>
          <p:nvPr/>
        </p:nvSpPr>
        <p:spPr>
          <a:xfrm>
            <a:off x="914400" y="18288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WAF + limits  </a:t>
            </a:r>
            <a:r>
              <a:rPr lang="en-US" sz="1200" dirty="0">
                <a:solidFill>
                  <a:schemeClr val="tx1"/>
                </a:solidFill>
              </a:rPr>
              <a:t>drop abusive traffic early</a:t>
            </a:r>
            <a:endParaRPr lang="en-US" sz="1200" dirty="0"/>
          </a:p>
        </p:txBody>
      </p:sp>
      <p:sp>
        <p:nvSpPr>
          <p:cNvPr id="11" name="row-262"/>
          <p:cNvSpPr/>
          <p:nvPr/>
        </p:nvSpPr>
        <p:spPr>
          <a:xfrm>
            <a:off x="457200" y="2286000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2" name="num-263"/>
          <p:cNvSpPr txBox="1"/>
          <p:nvPr/>
        </p:nvSpPr>
        <p:spPr>
          <a:xfrm>
            <a:off x="530352" y="23408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-264"/>
          <p:cNvSpPr txBox="1"/>
          <p:nvPr/>
        </p:nvSpPr>
        <p:spPr>
          <a:xfrm>
            <a:off x="914400" y="22860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Redis  </a:t>
            </a:r>
            <a:r>
              <a:rPr lang="en-US" sz="1200" dirty="0">
                <a:solidFill>
                  <a:schemeClr val="tx1"/>
                </a:solidFill>
              </a:rPr>
              <a:t>hot reads, sold-out flag</a:t>
            </a:r>
            <a:endParaRPr lang="en-US" sz="1200" dirty="0"/>
          </a:p>
        </p:txBody>
      </p:sp>
      <p:sp>
        <p:nvSpPr>
          <p:cNvPr id="14" name="row-265"/>
          <p:cNvSpPr/>
          <p:nvPr/>
        </p:nvSpPr>
        <p:spPr>
          <a:xfrm>
            <a:off x="457200" y="2743200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5" name="num-266"/>
          <p:cNvSpPr txBox="1"/>
          <p:nvPr/>
        </p:nvSpPr>
        <p:spPr>
          <a:xfrm>
            <a:off x="530352" y="27980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-267"/>
          <p:cNvSpPr txBox="1"/>
          <p:nvPr/>
        </p:nvSpPr>
        <p:spPr>
          <a:xfrm>
            <a:off x="914400" y="27432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Admission  </a:t>
            </a:r>
            <a:r>
              <a:rPr lang="en-US" sz="1200" dirty="0">
                <a:solidFill>
                  <a:schemeClr val="tx1"/>
                </a:solidFill>
              </a:rPr>
              <a:t>bounded queue to inventory</a:t>
            </a:r>
            <a:endParaRPr lang="en-US" sz="1200" dirty="0"/>
          </a:p>
        </p:txBody>
      </p:sp>
      <p:sp>
        <p:nvSpPr>
          <p:cNvPr id="17" name="row-268"/>
          <p:cNvSpPr/>
          <p:nvPr/>
        </p:nvSpPr>
        <p:spPr>
          <a:xfrm>
            <a:off x="457200" y="3200400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8" name="num-269"/>
          <p:cNvSpPr txBox="1"/>
          <p:nvPr/>
        </p:nvSpPr>
        <p:spPr>
          <a:xfrm>
            <a:off x="530352" y="32552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-270"/>
          <p:cNvSpPr txBox="1"/>
          <p:nvPr/>
        </p:nvSpPr>
        <p:spPr>
          <a:xfrm>
            <a:off x="914400" y="32004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Pods  </a:t>
            </a:r>
            <a:r>
              <a:rPr lang="en-US" sz="1200" dirty="0">
                <a:solidFill>
                  <a:schemeClr val="tx1"/>
                </a:solidFill>
              </a:rPr>
              <a:t>stateless, autoscaling</a:t>
            </a:r>
            <a:endParaRPr lang="en-US" sz="1200" dirty="0"/>
          </a:p>
        </p:txBody>
      </p:sp>
      <p:sp>
        <p:nvSpPr>
          <p:cNvPr id="20" name="text-271"/>
          <p:cNvSpPr txBox="1"/>
          <p:nvPr/>
        </p:nvSpPr>
        <p:spPr>
          <a:xfrm>
            <a:off x="457200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5"/>
                </a:solidFill>
              </a:rPr>
              <a:t>FAIL SAFE</a:t>
            </a:r>
            <a:endParaRPr lang="en-US" sz="1100" dirty="0"/>
          </a:p>
        </p:txBody>
      </p:sp>
      <p:graphicFrame>
        <p:nvGraphicFramePr>
          <p:cNvPr id="3" name="table-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71600"/>
          <a:ext cx="411480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Failure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Recovery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Inventory DB down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Promote standby; fail fast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Gateway down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Breaker opens; reservation expires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 service down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Kafka retains; redelivers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Redis down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Fall back to SQL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Duplicate event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eventId seen; ignored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callout-273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23" name="text-274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Honest trade-off: </a:t>
            </a:r>
            <a:r>
              <a:rPr lang="en-US" sz="1300" dirty="0">
                <a:solidFill>
                  <a:schemeClr val="bg1"/>
                </a:solidFill>
              </a:rPr>
              <a:t>one hot inventory row caps throughput. We accept that ceiling rather than risk overselling. Security: TLS, JWT, tokenised payments, audit log.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Validated by design and by test</a:t>
            </a:r>
            <a:endParaRPr lang="en-US" sz="3000" dirty="0"/>
          </a:p>
        </p:txBody>
      </p:sp>
      <p:sp>
        <p:nvSpPr>
          <p:cNvPr id="4" name="tick-275"/>
          <p:cNvSpPr txBox="1"/>
          <p:nvPr/>
        </p:nvSpPr>
        <p:spPr>
          <a:xfrm>
            <a:off x="457200" y="122529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5" name="text-276"/>
          <p:cNvSpPr txBox="1"/>
          <p:nvPr/>
        </p:nvSpPr>
        <p:spPr>
          <a:xfrm>
            <a:off x="868680" y="11887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10,000 requests, 100 units → exactly 100 reservations</a:t>
            </a:r>
            <a:endParaRPr lang="en-US" sz="1300" dirty="0"/>
          </a:p>
        </p:txBody>
      </p:sp>
      <p:sp>
        <p:nvSpPr>
          <p:cNvPr id="6" name="tick-277"/>
          <p:cNvSpPr txBox="1"/>
          <p:nvPr/>
        </p:nvSpPr>
        <p:spPr>
          <a:xfrm>
            <a:off x="457200" y="168249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-278"/>
          <p:cNvSpPr txBox="1"/>
          <p:nvPr/>
        </p:nvSpPr>
        <p:spPr>
          <a:xfrm>
            <a:off x="868680" y="16459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2 % duplicate keys → one reservation per key</a:t>
            </a:r>
            <a:endParaRPr lang="en-US" sz="1300" dirty="0"/>
          </a:p>
        </p:txBody>
      </p:sp>
      <p:sp>
        <p:nvSpPr>
          <p:cNvPr id="8" name="tick-279"/>
          <p:cNvSpPr txBox="1"/>
          <p:nvPr/>
        </p:nvSpPr>
        <p:spPr>
          <a:xfrm>
            <a:off x="457200" y="213969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-280"/>
          <p:cNvSpPr txBox="1"/>
          <p:nvPr/>
        </p:nvSpPr>
        <p:spPr>
          <a:xfrm>
            <a:off x="868680" y="2103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5 % payment failures → units released and resold</a:t>
            </a:r>
            <a:endParaRPr lang="en-US" sz="1300" dirty="0"/>
          </a:p>
        </p:txBody>
      </p:sp>
      <p:sp>
        <p:nvSpPr>
          <p:cNvPr id="10" name="tick-281"/>
          <p:cNvSpPr txBox="1"/>
          <p:nvPr/>
        </p:nvSpPr>
        <p:spPr>
          <a:xfrm>
            <a:off x="457200" y="259689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-282"/>
          <p:cNvSpPr txBox="1"/>
          <p:nvPr/>
        </p:nvSpPr>
        <p:spPr>
          <a:xfrm>
            <a:off x="868680" y="25603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30 s Order outage → one order per paid reservation</a:t>
            </a:r>
            <a:endParaRPr lang="en-US" sz="1300" dirty="0"/>
          </a:p>
        </p:txBody>
      </p:sp>
      <p:sp>
        <p:nvSpPr>
          <p:cNvPr id="12" name="tick-283"/>
          <p:cNvSpPr txBox="1"/>
          <p:nvPr/>
        </p:nvSpPr>
        <p:spPr>
          <a:xfrm>
            <a:off x="457200" y="305409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-284"/>
          <p:cNvSpPr txBox="1"/>
          <p:nvPr/>
        </p:nvSpPr>
        <p:spPr>
          <a:xfrm>
            <a:off x="868680" y="30175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After every run: available + reserved + sold = 100</a:t>
            </a:r>
            <a:endParaRPr lang="en-US" sz="1300" dirty="0"/>
          </a:p>
        </p:txBody>
      </p:sp>
      <p:sp>
        <p:nvSpPr>
          <p:cNvPr id="14" name="text-285"/>
          <p:cNvSpPr txBox="1"/>
          <p:nvPr/>
        </p:nvSpPr>
        <p:spPr>
          <a:xfrm>
            <a:off x="557784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≤ Stock</a:t>
            </a:r>
            <a:endParaRPr lang="en-US" sz="2800" dirty="0"/>
          </a:p>
        </p:txBody>
      </p:sp>
      <p:sp>
        <p:nvSpPr>
          <p:cNvPr id="15" name="text-286"/>
          <p:cNvSpPr txBox="1"/>
          <p:nvPr/>
        </p:nvSpPr>
        <p:spPr>
          <a:xfrm>
            <a:off x="557784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≠ Repeat</a:t>
            </a:r>
            <a:endParaRPr lang="en-US" sz="2800" dirty="0"/>
          </a:p>
        </p:txBody>
      </p:sp>
      <p:sp>
        <p:nvSpPr>
          <p:cNvPr id="16" name="text-287"/>
          <p:cNvSpPr txBox="1"/>
          <p:nvPr/>
        </p:nvSpPr>
        <p:spPr>
          <a:xfrm>
            <a:off x="557784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≠ Loss</a:t>
            </a:r>
            <a:endParaRPr lang="en-US" sz="2800" dirty="0"/>
          </a:p>
        </p:txBody>
      </p:sp>
      <p:sp>
        <p:nvSpPr>
          <p:cNvPr id="17" name="text-288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bg1"/>
                </a:solidFill>
              </a:rPr>
              <a:t>Traffic can scale horizontally. Inventory correctness cannot be compromised.</a:t>
            </a:r>
            <a:endParaRPr lang="en-US" sz="1800" dirty="0"/>
          </a:p>
        </p:txBody>
      </p:sp>
      <p:sp>
        <p:nvSpPr>
          <p:cNvPr id="18" name="text-289"/>
          <p:cNvSpPr txBox="1"/>
          <p:nvPr/>
        </p:nvSpPr>
        <p:spPr>
          <a:xfrm>
            <a:off x="457200" y="4114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Nithish A 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24AD145</a:t>
            </a:r>
            <a:endParaRPr lang="en-US" sz="1400" dirty="0"/>
          </a:p>
        </p:txBody>
      </p:sp>
      <p:sp>
        <p:nvSpPr>
          <p:cNvPr id="19" name="text-290"/>
          <p:cNvSpPr txBox="1"/>
          <p:nvPr/>
        </p:nvSpPr>
        <p:spPr>
          <a:xfrm>
            <a:off x="3291840" y="4114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Sandhya 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24AD185</a:t>
            </a:r>
            <a:endParaRPr lang="en-US" sz="1400" dirty="0"/>
          </a:p>
        </p:txBody>
      </p:sp>
      <p:sp>
        <p:nvSpPr>
          <p:cNvPr id="20" name="text-291"/>
          <p:cNvSpPr txBox="1"/>
          <p:nvPr/>
        </p:nvSpPr>
        <p:spPr>
          <a:xfrm>
            <a:off x="6126480" y="4114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Santosh J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24AD190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2E11-F4A7-8E30-7FBF-D617BE405A62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53453" y="1885950"/>
            <a:ext cx="8229600" cy="6858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893376"/>
      </p:ext>
    </p:extLst>
  </p:cSld>
  <p:clrMapOvr>
    <a:masterClrMapping/>
  </p:clrMapOvr>
</p:sld>
</file>

<file path=ppt/theme/theme1.xml><?xml version="1.0" encoding="utf-8"?>
<a:theme xmlns:a="http://schemas.openxmlformats.org/drawingml/2006/main" name="FlashGuard">
  <a:themeElements>
    <a:clrScheme name="FlashGuard">
      <a:dk1>
        <a:srgbClr val="1F2937"/>
      </a:dk1>
      <a:lt1>
        <a:srgbClr val="FFFFFF"/>
      </a:lt1>
      <a:dk2>
        <a:srgbClr val="0B1F3A"/>
      </a:dk2>
      <a:lt2>
        <a:srgbClr val="F1F4F9"/>
      </a:lt2>
      <a:accent1>
        <a:srgbClr val="E8590C"/>
      </a:accent1>
      <a:accent2>
        <a:srgbClr val="1F7A8C"/>
      </a:accent2>
      <a:accent3>
        <a:srgbClr val="2E9E6B"/>
      </a:accent3>
      <a:accent4>
        <a:srgbClr val="C8403A"/>
      </a:accent4>
      <a:accent5>
        <a:srgbClr val="6B7280"/>
      </a:accent5>
      <a:accent6>
        <a:srgbClr val="3A506B"/>
      </a:accent6>
      <a:hlink>
        <a:srgbClr val="1F7A8C"/>
      </a:hlink>
      <a:folHlink>
        <a:srgbClr val="6B7280"/>
      </a:folHlink>
    </a:clrScheme>
    <a:fontScheme name="Flash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PresentationFormat>On-screen Show (16:9)</PresentationFormat>
  <Paragraphs>205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FlashGuard</vt:lpstr>
      <vt:lpstr>PowerPoint Presentation</vt:lpstr>
      <vt:lpstr>One principle, three guarantees</vt:lpstr>
      <vt:lpstr>High-level architecture</vt:lpstr>
      <vt:lpstr>10,000 requests, at most 100 reservations</vt:lpstr>
      <vt:lpstr>Reservation lifecycle</vt:lpstr>
      <vt:lpstr>Payment: a timeout means unknown</vt:lpstr>
      <vt:lpstr>Recovery: a paid order is never lost</vt:lpstr>
      <vt:lpstr>Data and design that enforce the rules</vt:lpstr>
      <vt:lpstr>Scales out, fails safe</vt:lpstr>
      <vt:lpstr>Validated by design and by test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FlashGuard – System Design</dc:title>
  <dc:subject>PptxGenJS Presentation</dc:subject>
  <dc:creator>Nithish A T, Sandhya M, Santosh J</dc:creator>
  <cp:lastModifiedBy>Sandhya M</cp:lastModifiedBy>
  <cp:revision>2</cp:revision>
  <dcterms:created xsi:type="dcterms:W3CDTF">2026-10-05T07:06:26Z</dcterms:created>
  <dcterms:modified xsi:type="dcterms:W3CDTF">2026-10-05T09:20:18Z</dcterms:modified>
</cp:coreProperties>
</file>